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2.jpg" ContentType="image/jpg"/>
  <Override PartName="/ppt/notesSlides/notesSlide6.xml" ContentType="application/vnd.openxmlformats-officedocument.presentationml.notesSlide+xml"/>
  <Override PartName="/ppt/media/image13.jpg" ContentType="image/jpg"/>
  <Override PartName="/ppt/notesSlides/notesSlide7.xml" ContentType="application/vnd.openxmlformats-officedocument.presentationml.notesSlide+xml"/>
  <Override PartName="/ppt/media/image14.jpg" ContentType="image/jpg"/>
  <Override PartName="/ppt/notesSlides/notesSlide8.xml" ContentType="application/vnd.openxmlformats-officedocument.presentationml.notesSlide+xml"/>
  <Override PartName="/ppt/media/image15.jpg" ContentType="image/jpg"/>
  <Override PartName="/ppt/media/image16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23.jpg" ContentType="image/jpg"/>
  <Override PartName="/ppt/media/image24.jpg" ContentType="image/jpg"/>
  <Override PartName="/ppt/media/image25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29.jpg" ContentType="image/jpg"/>
  <Override PartName="/ppt/media/image30.jpg" ContentType="image/jpg"/>
  <Override PartName="/ppt/notesSlides/notesSlide17.xml" ContentType="application/vnd.openxmlformats-officedocument.presentationml.notesSlide+xml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93" r:id="rId4"/>
    <p:sldId id="29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99" r:id="rId14"/>
    <p:sldId id="294" r:id="rId15"/>
    <p:sldId id="267" r:id="rId16"/>
    <p:sldId id="268" r:id="rId17"/>
    <p:sldId id="281" r:id="rId18"/>
    <p:sldId id="270" r:id="rId19"/>
    <p:sldId id="282" r:id="rId20"/>
    <p:sldId id="283" r:id="rId21"/>
    <p:sldId id="284" r:id="rId22"/>
    <p:sldId id="285" r:id="rId23"/>
    <p:sldId id="286" r:id="rId24"/>
    <p:sldId id="295" r:id="rId25"/>
    <p:sldId id="288" r:id="rId26"/>
    <p:sldId id="289" r:id="rId27"/>
    <p:sldId id="301" r:id="rId28"/>
    <p:sldId id="296" r:id="rId29"/>
    <p:sldId id="290" r:id="rId30"/>
    <p:sldId id="291" r:id="rId31"/>
    <p:sldId id="292" r:id="rId32"/>
    <p:sldId id="28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0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42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F989-4E30-9521-80CC-92C22F35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938C4-CE23-D612-5C07-7C7FC91F3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2B7BD-C080-C96C-1512-17B45D412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48DBB-3AC6-ECA9-EA91-F92E4217C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23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2AE0-DC68-1233-AD2E-53DFD1A3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C1055-AA81-046C-9046-9560E8BFE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0C16B-5BF2-55A7-9E8C-D155D28FC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23D9-B151-F0BE-6A55-CDA2788D0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7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D92B1-574B-141A-999D-756E7150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454CF-1888-DE58-2B69-B1A8F9300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89134-D2BB-9FA0-6159-3470AA332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96862-4457-7E37-36D2-E58A250D2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15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E900-09D3-488D-07AE-64BE60B8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8EACD-ED99-3ECD-7939-52A48F8F9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A091D-E292-BAE2-84E1-9FD0A8529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28623-2424-9DE5-D1CF-449C51217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71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B7838-6071-D66D-A8C5-BF4474A2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BA61D-D4D4-2014-4C85-7624EF061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14B5E-747A-462B-AB09-105D98071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6E5F5-E8B5-4FBD-67BD-E0F8D37BC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79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685800"/>
            <a:ext cx="5486400" cy="548640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645920" cy="1645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5120640"/>
            <a:ext cx="1371600" cy="1371600"/>
          </a:xfrm>
          <a:prstGeom prst="ellipse">
            <a:avLst/>
          </a:prstGeom>
          <a:ln w="3175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818120" y="411480"/>
            <a:ext cx="457200" cy="457200"/>
          </a:xfrm>
          <a:prstGeom prst="ellipse">
            <a:avLst/>
          </a:prstGeom>
          <a:solidFill>
            <a:srgbClr val="3C3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22960" y="822960"/>
            <a:ext cx="320040" cy="3200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D4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매뉴얼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59" y="2606040"/>
            <a:ext cx="905788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이마트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설치 매뉴얼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· 계산대미디어  |  단계별 설치 가이드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설치 담당자용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1005840"/>
            <a:ext cx="2377440" cy="23774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개요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057400"/>
            <a:ext cx="822960" cy="822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1대 설치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TV 밑면 가운데 위치에 부착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8단계로 설치 진행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20840" y="2057400"/>
            <a:ext cx="822960" cy="822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7208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12280" y="3200400"/>
            <a:ext cx="463991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1~2대 설치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내부 1대 + (</a:t>
            </a:r>
            <a:r>
              <a:rPr 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외부 1대)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방법은 동선스크린과 동일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4261-ED1A-D8CE-39EC-0EEB506A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0B6D29-99CA-5122-7A3A-F0779C9F73A7}"/>
              </a:ext>
            </a:extLst>
          </p:cNvPr>
          <p:cNvSpPr/>
          <p:nvPr/>
        </p:nvSpPr>
        <p:spPr>
          <a:xfrm>
            <a:off x="11155680" y="-1005840"/>
            <a:ext cx="2377440" cy="23774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28EF3B-F1F6-58C0-2B6E-D1643CDDD29F}"/>
              </a:ext>
            </a:extLst>
          </p:cNvPr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전 자재 확인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5C8BEF-4020-6A2D-ECFE-5E1E48DB2CBE}"/>
              </a:ext>
            </a:extLst>
          </p:cNvPr>
          <p:cNvSpPr/>
          <p:nvPr/>
        </p:nvSpPr>
        <p:spPr>
          <a:xfrm>
            <a:off x="640080" y="1645920"/>
            <a:ext cx="5809706" cy="48463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D3C4D3-AAEF-F454-5425-275B841630B5}"/>
              </a:ext>
            </a:extLst>
          </p:cNvPr>
          <p:cNvSpPr/>
          <p:nvPr/>
        </p:nvSpPr>
        <p:spPr>
          <a:xfrm>
            <a:off x="890451" y="1876697"/>
            <a:ext cx="5559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&lt;SKB </a:t>
            </a:r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자재</a:t>
            </a: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 카메라 </a:t>
            </a:r>
            <a:r>
              <a:rPr lang="en-US" altLang="ko-KR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우측 사진처럼 설치 전 세팅</a:t>
            </a:r>
            <a:r>
              <a:rPr lang="en-US" altLang="ko-KR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altLang="ko-KR" sz="1800" dirty="0">
                <a:latin typeface="Pretendard" pitchFamily="34" charset="0"/>
                <a:ea typeface="Pretendard" pitchFamily="34" charset="-122"/>
              </a:rPr>
              <a:t>USB</a:t>
            </a:r>
            <a:r>
              <a:rPr lang="ko-KR" altLang="en-US" sz="1800" dirty="0">
                <a:latin typeface="Pretendard" pitchFamily="34" charset="0"/>
                <a:ea typeface="Pretendard" pitchFamily="34" charset="-122"/>
              </a:rPr>
              <a:t>어댑터</a:t>
            </a:r>
            <a:endParaRPr lang="en-US" altLang="ko-KR" sz="1800" dirty="0"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altLang="ko-KR" dirty="0">
                <a:latin typeface="Pretendard" pitchFamily="34" charset="0"/>
                <a:ea typeface="Pretendard" pitchFamily="34" charset="-122"/>
              </a:rPr>
              <a:t>3M</a:t>
            </a:r>
            <a:r>
              <a:rPr lang="ko-KR" altLang="en-US" dirty="0">
                <a:latin typeface="Pretendard" pitchFamily="34" charset="0"/>
                <a:ea typeface="Pretendard" pitchFamily="34" charset="-122"/>
              </a:rPr>
              <a:t>테이프</a:t>
            </a:r>
            <a:endParaRPr lang="en-US" altLang="ko-KR" dirty="0"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dirty="0" err="1">
                <a:latin typeface="Pretendard" pitchFamily="34" charset="0"/>
                <a:ea typeface="Pretendard" pitchFamily="34" charset="-122"/>
              </a:rPr>
              <a:t>멀티탭</a:t>
            </a:r>
            <a:endParaRPr lang="en-US" altLang="ko-KR" dirty="0"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dirty="0">
                <a:latin typeface="Pretendard" pitchFamily="34" charset="0"/>
                <a:ea typeface="Pretendard" pitchFamily="34" charset="-122"/>
              </a:rPr>
              <a:t>페인트 마커</a:t>
            </a:r>
            <a:endParaRPr lang="en-US" altLang="ko-KR" sz="1800" dirty="0">
              <a:latin typeface="Pretendard" pitchFamily="34" charset="0"/>
              <a:ea typeface="Pretendard" pitchFamily="34" charset="-122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altLang="ko-KR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&lt;</a:t>
            </a:r>
            <a:r>
              <a:rPr lang="en-US" altLang="ko-KR" sz="20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HnS</a:t>
            </a:r>
            <a:r>
              <a:rPr lang="en-US" altLang="ko-KR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alt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별도 지참</a:t>
            </a:r>
            <a:r>
              <a:rPr lang="en-US" altLang="ko-KR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&gt;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쪽가위</a:t>
            </a:r>
            <a:endParaRPr lang="en-US" altLang="ko-KR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케이블타이</a:t>
            </a:r>
            <a:endParaRPr lang="en-US" altLang="ko-KR" sz="18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드라이버(십자)</a:t>
            </a:r>
            <a:endParaRPr lang="en-US" altLang="ko-KR" sz="18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endParaRPr lang="en-US" sz="1800" dirty="0"/>
          </a:p>
          <a:p>
            <a:pPr>
              <a:spcAft>
                <a:spcPts val="1200"/>
              </a:spcAft>
              <a:buSzPct val="100000"/>
            </a:pPr>
            <a:endParaRPr lang="en-US" sz="1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672849-0930-0CC5-D4FA-5F1A3196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054" y="944400"/>
            <a:ext cx="4206240" cy="22113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07DD25-F425-E8FE-1660-A50E04D960EF}"/>
              </a:ext>
            </a:extLst>
          </p:cNvPr>
          <p:cNvSpPr txBox="1"/>
          <p:nvPr/>
        </p:nvSpPr>
        <p:spPr>
          <a:xfrm>
            <a:off x="6555971" y="3308649"/>
            <a:ext cx="4347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※</a:t>
            </a:r>
            <a:r>
              <a:rPr lang="ko-KR" altLang="en-US" sz="1600" dirty="0"/>
              <a:t>주목도 분석용 카메라에 </a:t>
            </a:r>
            <a:r>
              <a:rPr lang="en-US" altLang="ko-KR" sz="1600" dirty="0"/>
              <a:t>3M</a:t>
            </a:r>
            <a:r>
              <a:rPr lang="ko-KR" altLang="en-US" sz="1600" dirty="0"/>
              <a:t>테이프 부착 위치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D20C71-6792-11FC-224E-A96BFBC58F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63" t="10102" r="66486" b="23204"/>
          <a:stretch>
            <a:fillRect/>
          </a:stretch>
        </p:blipFill>
        <p:spPr>
          <a:xfrm rot="5400000">
            <a:off x="7912191" y="2504904"/>
            <a:ext cx="1717965" cy="4206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A66D3-40B3-9D9D-7688-CFCA5978B2D4}"/>
              </a:ext>
            </a:extLst>
          </p:cNvPr>
          <p:cNvSpPr txBox="1"/>
          <p:nvPr/>
        </p:nvSpPr>
        <p:spPr>
          <a:xfrm>
            <a:off x="6555971" y="5577840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/>
              <a:t>주목도 분석용 카메라 전면 사진</a:t>
            </a:r>
          </a:p>
        </p:txBody>
      </p:sp>
    </p:spTree>
    <p:extLst>
      <p:ext uri="{BB962C8B-B14F-4D97-AF65-F5344CB8AC3E}">
        <p14:creationId xmlns:p14="http://schemas.microsoft.com/office/powerpoint/2010/main" val="37313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전 공통 준비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580644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거치대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힌지의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스티커를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제거하고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드라이버로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나사를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풀어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카메라와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거치대를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분리한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뒤, </a:t>
            </a: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테이프를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밑면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크기에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맞게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잘라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부착합니다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64008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거치대 분리 및 3M 테이프 부착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sp>
        <p:nvSpPr>
          <p:cNvPr id="901" name="bg901"/>
          <p:cNvSpPr/>
          <p:nvPr/>
        </p:nvSpPr>
        <p:spPr>
          <a:xfrm>
            <a:off x="63093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02" name="detach902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" y="1600200"/>
            <a:ext cx="2560320" cy="1920240"/>
          </a:xfrm>
          <a:prstGeom prst="rect">
            <a:avLst/>
          </a:prstGeom>
        </p:spPr>
      </p:pic>
      <p:sp>
        <p:nvSpPr>
          <p:cNvPr id="903" name="num903"/>
          <p:cNvSpPr/>
          <p:nvPr/>
        </p:nvSpPr>
        <p:spPr>
          <a:xfrm>
            <a:off x="70408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04" name="bg904"/>
          <p:cNvSpPr/>
          <p:nvPr/>
        </p:nvSpPr>
        <p:spPr>
          <a:xfrm>
            <a:off x="341985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05" name="detach905"/>
          <p:cNvPicPr/>
          <p:nvPr/>
        </p:nvPicPr>
        <p:blipFill>
          <a:blip r:embed="rId3"/>
          <a:stretch>
            <a:fillRect/>
          </a:stretch>
        </p:blipFill>
        <p:spPr>
          <a:xfrm>
            <a:off x="3419856" y="1600200"/>
            <a:ext cx="2560320" cy="1920240"/>
          </a:xfrm>
          <a:prstGeom prst="rect">
            <a:avLst/>
          </a:prstGeom>
        </p:spPr>
      </p:pic>
      <p:sp>
        <p:nvSpPr>
          <p:cNvPr id="906" name="num906"/>
          <p:cNvSpPr/>
          <p:nvPr/>
        </p:nvSpPr>
        <p:spPr>
          <a:xfrm>
            <a:off x="349300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07" name="bg907"/>
          <p:cNvSpPr/>
          <p:nvPr/>
        </p:nvSpPr>
        <p:spPr>
          <a:xfrm>
            <a:off x="620877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08" name="detach908"/>
          <p:cNvPicPr/>
          <p:nvPr/>
        </p:nvPicPr>
        <p:blipFill>
          <a:blip r:embed="rId4"/>
          <a:stretch>
            <a:fillRect/>
          </a:stretch>
        </p:blipFill>
        <p:spPr>
          <a:xfrm>
            <a:off x="6208776" y="1600200"/>
            <a:ext cx="2560320" cy="1920240"/>
          </a:xfrm>
          <a:prstGeom prst="rect">
            <a:avLst/>
          </a:prstGeom>
        </p:spPr>
      </p:pic>
      <p:sp>
        <p:nvSpPr>
          <p:cNvPr id="909" name="num909"/>
          <p:cNvSpPr/>
          <p:nvPr/>
        </p:nvSpPr>
        <p:spPr>
          <a:xfrm>
            <a:off x="628192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910" name="bg910"/>
          <p:cNvSpPr/>
          <p:nvPr/>
        </p:nvSpPr>
        <p:spPr>
          <a:xfrm>
            <a:off x="899769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11" name="detach911"/>
          <p:cNvPicPr/>
          <p:nvPr/>
        </p:nvPicPr>
        <p:blipFill>
          <a:blip r:embed="rId5"/>
          <a:stretch>
            <a:fillRect/>
          </a:stretch>
        </p:blipFill>
        <p:spPr>
          <a:xfrm>
            <a:off x="8997696" y="1600200"/>
            <a:ext cx="2560320" cy="1920240"/>
          </a:xfrm>
          <a:prstGeom prst="rect">
            <a:avLst/>
          </a:prstGeom>
        </p:spPr>
      </p:pic>
      <p:sp>
        <p:nvSpPr>
          <p:cNvPr id="912" name="num912"/>
          <p:cNvSpPr/>
          <p:nvPr/>
        </p:nvSpPr>
        <p:spPr>
          <a:xfrm>
            <a:off x="907084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913" name="bg913"/>
          <p:cNvSpPr/>
          <p:nvPr/>
        </p:nvSpPr>
        <p:spPr>
          <a:xfrm>
            <a:off x="63093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14" name="detach914"/>
          <p:cNvPicPr/>
          <p:nvPr/>
        </p:nvPicPr>
        <p:blipFill>
          <a:blip r:embed="rId6"/>
          <a:stretch>
            <a:fillRect/>
          </a:stretch>
        </p:blipFill>
        <p:spPr>
          <a:xfrm>
            <a:off x="630936" y="3749040"/>
            <a:ext cx="2560320" cy="1920240"/>
          </a:xfrm>
          <a:prstGeom prst="rect">
            <a:avLst/>
          </a:prstGeom>
        </p:spPr>
      </p:pic>
      <p:sp>
        <p:nvSpPr>
          <p:cNvPr id="915" name="num915"/>
          <p:cNvSpPr/>
          <p:nvPr/>
        </p:nvSpPr>
        <p:spPr>
          <a:xfrm>
            <a:off x="70408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916" name="bg916"/>
          <p:cNvSpPr/>
          <p:nvPr/>
        </p:nvSpPr>
        <p:spPr>
          <a:xfrm>
            <a:off x="341985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17" name="detach917"/>
          <p:cNvPicPr/>
          <p:nvPr/>
        </p:nvPicPr>
        <p:blipFill>
          <a:blip r:embed="rId7"/>
          <a:stretch>
            <a:fillRect/>
          </a:stretch>
        </p:blipFill>
        <p:spPr>
          <a:xfrm>
            <a:off x="3419856" y="3749040"/>
            <a:ext cx="2560320" cy="1920240"/>
          </a:xfrm>
          <a:prstGeom prst="rect">
            <a:avLst/>
          </a:prstGeom>
        </p:spPr>
      </p:pic>
      <p:sp>
        <p:nvSpPr>
          <p:cNvPr id="918" name="num918"/>
          <p:cNvSpPr/>
          <p:nvPr/>
        </p:nvSpPr>
        <p:spPr>
          <a:xfrm>
            <a:off x="349300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919" name="bg919"/>
          <p:cNvSpPr/>
          <p:nvPr/>
        </p:nvSpPr>
        <p:spPr>
          <a:xfrm>
            <a:off x="620877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20" name="detach920"/>
          <p:cNvPicPr/>
          <p:nvPr/>
        </p:nvPicPr>
        <p:blipFill>
          <a:blip r:embed="rId8"/>
          <a:stretch>
            <a:fillRect/>
          </a:stretch>
        </p:blipFill>
        <p:spPr>
          <a:xfrm>
            <a:off x="6208776" y="3749040"/>
            <a:ext cx="2560320" cy="1920240"/>
          </a:xfrm>
          <a:prstGeom prst="rect">
            <a:avLst/>
          </a:prstGeom>
        </p:spPr>
      </p:pic>
      <p:sp>
        <p:nvSpPr>
          <p:cNvPr id="921" name="num921"/>
          <p:cNvSpPr/>
          <p:nvPr/>
        </p:nvSpPr>
        <p:spPr>
          <a:xfrm>
            <a:off x="628192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922" name="bg922"/>
          <p:cNvSpPr/>
          <p:nvPr/>
        </p:nvSpPr>
        <p:spPr>
          <a:xfrm>
            <a:off x="899769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>
        <p:nvPicPr>
          <p:cNvPr id="923" name="detach923"/>
          <p:cNvPicPr/>
          <p:nvPr/>
        </p:nvPicPr>
        <p:blipFill>
          <a:blip r:embed="rId9"/>
          <a:stretch>
            <a:fillRect/>
          </a:stretch>
        </p:blipFill>
        <p:spPr>
          <a:xfrm>
            <a:off x="8997696" y="3749040"/>
            <a:ext cx="2560320" cy="1920240"/>
          </a:xfrm>
          <a:prstGeom prst="rect">
            <a:avLst/>
          </a:prstGeom>
        </p:spPr>
      </p:pic>
      <p:sp>
        <p:nvSpPr>
          <p:cNvPr id="924" name="num924"/>
          <p:cNvSpPr/>
          <p:nvPr/>
        </p:nvSpPr>
        <p:spPr>
          <a:xfrm>
            <a:off x="907084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960" name="warn"/>
          <p:cNvSpPr/>
          <p:nvPr/>
        </p:nvSpPr>
        <p:spPr>
          <a:xfrm>
            <a:off x="640080" y="6492240"/>
            <a:ext cx="11247120" cy="32004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50" b="1" dirty="0">
                <a:solidFill>
                  <a:srgbClr val="E02020"/>
                </a:solidFill>
                <a:latin typeface="Pretendard"/>
                <a:ea typeface="Pretendard"/>
              </a:rPr>
              <a:t>※ 모든 카메라는 설치 전에 거치대 분리 + 3M 테이프 부착 상태로 준비합니다.</a:t>
            </a:r>
          </a:p>
        </p:txBody>
      </p:sp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ln w="3175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966960" y="3977640"/>
            <a:ext cx="502920" cy="502920"/>
          </a:xfrm>
          <a:prstGeom prst="ellipse">
            <a:avLst/>
          </a:prstGeom>
          <a:ln w="2540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554480" cy="155448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</a:t>
            </a: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설치 방법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1대를 설치합니다.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8단계 순서에 따라 진행해 주세요.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분배기 전원부 분리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셋톱박스에 연결되어 있는 HDMI </a:t>
            </a:r>
            <a:r>
              <a:rPr lang="en-US" sz="19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분배기의</a:t>
            </a: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9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전원부</a:t>
            </a: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(USB 단자)를 분리합니다.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903720" y="1143000"/>
            <a:ext cx="384048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tmp/claude-0/-home-user-ars/e10980de-cf93-514e-8d8f-658883089fc8/scratchpad/photos/a4.jpg">
            <a:extLst>
              <a:ext uri="{FF2B5EF4-FFF2-40B4-BE49-F238E27FC236}">
                <a16:creationId xmlns:a16="http://schemas.microsoft.com/office/drawing/2014/main" id="{D763CD51-ECB7-3726-2AE3-0FF7B2CD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콘센트 연결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63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분배기의 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단자를 </a:t>
            </a:r>
            <a:endParaRPr lang="en-US" altLang="ko-KR" sz="19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제공된 어댑터에 결합하여 콘센트에 연결합니다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903720" y="1143000"/>
            <a:ext cx="384048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tmp/claude-0/-home-user-ars/e10980de-cf93-514e-8d8f-658883089fc8/scratchpad/photos/a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연결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42666" y="1783080"/>
            <a:ext cx="291465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783080"/>
            <a:ext cx="2916936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36392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136392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작업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1783080"/>
            <a:ext cx="291465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a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783080"/>
            <a:ext cx="2916936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3076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323076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완료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카메라의 USB 단자를 셋톱박스의 USB 포트에 연결합니다.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히든키 입력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2529" y="1783080"/>
            <a:ext cx="2694737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4.jpg"/>
          <p:cNvPicPr>
            <a:picLocks noChangeAspect="1"/>
          </p:cNvPicPr>
          <p:nvPr/>
        </p:nvPicPr>
        <p:blipFill>
          <a:blip r:embed="rId3"/>
          <a:srcRect l="31070" r="30686" b="6274"/>
          <a:stretch>
            <a:fillRect/>
          </a:stretch>
        </p:blipFill>
        <p:spPr>
          <a:xfrm>
            <a:off x="1335024" y="1783080"/>
            <a:ext cx="2694629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23969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423969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히든키 입력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70448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</a:t>
            </a:r>
            <a:r>
              <a:rPr lang="en-US" altLang="ko-KR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리모컨 </a:t>
            </a: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페어링</a:t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 </a:t>
            </a:r>
            <a:r>
              <a:rPr 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리모컨으로</a:t>
            </a:r>
            <a:r>
              <a:rPr 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히든키(되감기 0407)를 입력하면 ON AD 셋톱박스 설정 페이지가 열립니다.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</a:t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3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모드</a:t>
            </a: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]의 [변경] 버튼을 누릅니다.</a:t>
            </a:r>
            <a:endParaRPr lang="en-US" sz="17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AFE4E49-B5DC-C172-3580-AEED9FBDF52C}"/>
              </a:ext>
            </a:extLst>
          </p:cNvPr>
          <p:cNvGrpSpPr/>
          <p:nvPr/>
        </p:nvGrpSpPr>
        <p:grpSpPr>
          <a:xfrm>
            <a:off x="4521499" y="1783079"/>
            <a:ext cx="6334924" cy="3886201"/>
            <a:chOff x="4521499" y="1783079"/>
            <a:chExt cx="6334924" cy="3886201"/>
          </a:xfrm>
        </p:grpSpPr>
        <p:sp>
          <p:nvSpPr>
            <p:cNvPr id="12" name="Shape 9"/>
            <p:cNvSpPr/>
            <p:nvPr/>
          </p:nvSpPr>
          <p:spPr>
            <a:xfrm>
              <a:off x="4521499" y="1783080"/>
              <a:ext cx="5963717" cy="3657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/tmp/claude-0/-home-user-ars/e10980de-cf93-514e-8d8f-658883089fc8/scratchpad/photos/b1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17136" y="1783080"/>
              <a:ext cx="5964040" cy="3657600"/>
            </a:xfrm>
            <a:prstGeom prst="rect">
              <a:avLst/>
            </a:prstGeom>
          </p:spPr>
        </p:pic>
        <p:sp>
          <p:nvSpPr>
            <p:cNvPr id="14" name="Shape 10"/>
            <p:cNvSpPr/>
            <p:nvPr/>
          </p:nvSpPr>
          <p:spPr>
            <a:xfrm>
              <a:off x="4612939" y="18745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4612939" y="1874520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설정 페이지</a:t>
              </a:r>
              <a:endParaRPr lang="en-US" sz="1100" dirty="0"/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CB567CDA-BEC8-E053-33E2-D3BD47934EAE}"/>
                </a:ext>
              </a:extLst>
            </p:cNvPr>
            <p:cNvSpPr/>
            <p:nvPr/>
          </p:nvSpPr>
          <p:spPr>
            <a:xfrm>
              <a:off x="9457048" y="1783080"/>
              <a:ext cx="688489" cy="275396"/>
            </a:xfrm>
            <a:prstGeom prst="rect">
              <a:avLst/>
            </a:prstGeom>
            <a:ln w="3175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59ABCB6-BEC7-9AD2-5D46-EE04F70CC4FF}"/>
              </a:ext>
            </a:extLst>
          </p:cNvPr>
          <p:cNvSpPr txBox="1"/>
          <p:nvPr/>
        </p:nvSpPr>
        <p:spPr>
          <a:xfrm>
            <a:off x="640080" y="6528816"/>
            <a:ext cx="11247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" b="1" dirty="0">
                <a:solidFill>
                  <a:srgbClr val="FF0000"/>
                </a:solidFill>
              </a:rPr>
              <a:t>※ </a:t>
            </a:r>
            <a:r>
              <a:rPr lang="ko-KR" altLang="en-US" sz="1150" b="1" dirty="0" err="1">
                <a:solidFill>
                  <a:srgbClr val="FF0000"/>
                </a:solidFill>
              </a:rPr>
              <a:t>히든키</a:t>
            </a:r>
            <a:r>
              <a:rPr lang="ko-KR" altLang="en-US" sz="1150" b="1" dirty="0">
                <a:solidFill>
                  <a:srgbClr val="FF0000"/>
                </a:solidFill>
              </a:rPr>
              <a:t> 입력 시 되감기 누른 상태에서 </a:t>
            </a:r>
            <a:r>
              <a:rPr lang="en-US" altLang="ko-KR" sz="1150" b="1" dirty="0">
                <a:solidFill>
                  <a:srgbClr val="FF0000"/>
                </a:solidFill>
              </a:rPr>
              <a:t>0407 </a:t>
            </a:r>
            <a:r>
              <a:rPr lang="ko-KR" altLang="en-US" sz="1150" b="1" dirty="0">
                <a:solidFill>
                  <a:srgbClr val="FF0000"/>
                </a:solidFill>
              </a:rPr>
              <a:t>입력이 아닌 되감기 </a:t>
            </a:r>
            <a:r>
              <a:rPr lang="en-US" altLang="ko-KR" sz="1150" b="1" dirty="0">
                <a:solidFill>
                  <a:srgbClr val="FF0000"/>
                </a:solidFill>
              </a:rPr>
              <a:t>-&gt;0-&gt;4-&gt;0-&gt;7 </a:t>
            </a:r>
            <a:r>
              <a:rPr lang="ko-KR" altLang="en-US" sz="1150" b="1" dirty="0">
                <a:solidFill>
                  <a:srgbClr val="FF0000"/>
                </a:solidFill>
              </a:rPr>
              <a:t>순차 입력 입니다</a:t>
            </a:r>
            <a:r>
              <a:rPr lang="en-US" altLang="ko-KR" sz="1150" b="1" dirty="0">
                <a:solidFill>
                  <a:srgbClr val="FF0000"/>
                </a:solidFill>
              </a:rPr>
              <a:t>.</a:t>
            </a:r>
            <a:endParaRPr lang="ko-KR" altLang="en-US" sz="1300" b="1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F376ED-AA41-19E7-5C9E-2942C3772D36}"/>
              </a:ext>
            </a:extLst>
          </p:cNvPr>
          <p:cNvSpPr/>
          <p:nvPr/>
        </p:nvSpPr>
        <p:spPr>
          <a:xfrm>
            <a:off x="1715144" y="3979329"/>
            <a:ext cx="641981" cy="185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6D0824-C50F-850B-A63E-B606F3F421CD}"/>
              </a:ext>
            </a:extLst>
          </p:cNvPr>
          <p:cNvSpPr/>
          <p:nvPr/>
        </p:nvSpPr>
        <p:spPr>
          <a:xfrm>
            <a:off x="1732038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46D38E-AEF6-B587-7F40-741877F628E8}"/>
              </a:ext>
            </a:extLst>
          </p:cNvPr>
          <p:cNvSpPr/>
          <p:nvPr/>
        </p:nvSpPr>
        <p:spPr>
          <a:xfrm>
            <a:off x="3125812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1" name="badge901"/>
          <p:cNvSpPr/>
          <p:nvPr/>
        </p:nvSpPr>
        <p:spPr>
          <a:xfrm>
            <a:off x="1577984" y="3842169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02" name="badge902"/>
          <p:cNvSpPr/>
          <p:nvPr/>
        </p:nvSpPr>
        <p:spPr>
          <a:xfrm>
            <a:off x="1594878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03" name="badge903"/>
          <p:cNvSpPr/>
          <p:nvPr/>
        </p:nvSpPr>
        <p:spPr>
          <a:xfrm>
            <a:off x="2988652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90" name="legend"/>
          <p:cNvSpPr/>
          <p:nvPr/>
        </p:nvSpPr>
        <p:spPr>
          <a:xfrm>
            <a:off x="1335024" y="5522976"/>
            <a:ext cx="82296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50" b="1" dirty="0">
                <a:solidFill>
                  <a:srgbClr val="FF0000"/>
                </a:solidFill>
                <a:latin typeface="Pretendard"/>
                <a:ea typeface="Pretendard"/>
              </a:rPr>
              <a:t>➊ 되감기 버튼</a:t>
            </a:r>
            <a:r>
              <a:rPr lang="ko-KR" sz="1250" dirty="0">
                <a:latin typeface="Pretendard"/>
                <a:ea typeface="Pretendard"/>
              </a:rPr>
              <a:t>     </a:t>
            </a:r>
            <a:r>
              <a:rPr lang="ko-KR" sz="1250" b="1" dirty="0">
                <a:solidFill>
                  <a:srgbClr val="2E9E4F"/>
                </a:solidFill>
                <a:latin typeface="Pretendard"/>
                <a:ea typeface="Pretendard"/>
              </a:rPr>
              <a:t>➋ 페어링 버튼 (양쪽 동시 입력)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AI 모드 변경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43375" y="1783080"/>
            <a:ext cx="6902199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[성별/연령 분석]을 [통행량 + 성별/연령 분석]으로 변경한 뒤 [적용]을 누릅니다.</a:t>
            </a:r>
            <a:endParaRPr lang="en-US" sz="17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EE277C-64B9-D913-C211-E3A2D836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375" y="1783080"/>
            <a:ext cx="6902199" cy="3921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② — 화각 확인</a:t>
            </a:r>
            <a:endParaRPr lang="en-US" sz="24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40CB90-BF37-92A0-A5DC-E8033E9B5200}"/>
              </a:ext>
            </a:extLst>
          </p:cNvPr>
          <p:cNvGrpSpPr/>
          <p:nvPr/>
        </p:nvGrpSpPr>
        <p:grpSpPr>
          <a:xfrm>
            <a:off x="6096000" y="1865248"/>
            <a:ext cx="5667528" cy="3440335"/>
            <a:chOff x="516636" y="2162429"/>
            <a:chExt cx="5479946" cy="3127503"/>
          </a:xfrm>
        </p:grpSpPr>
        <p:sp>
          <p:nvSpPr>
            <p:cNvPr id="8" name="Shape 6"/>
            <p:cNvSpPr/>
            <p:nvPr/>
          </p:nvSpPr>
          <p:spPr>
            <a:xfrm>
              <a:off x="518435" y="2162429"/>
              <a:ext cx="5476348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489" y="2287529"/>
              <a:ext cx="5038240" cy="2877303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608076" y="2253869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608076" y="2253869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1</a:t>
              </a:r>
              <a:endParaRPr lang="en-US" sz="1100" dirty="0"/>
            </a:p>
          </p:txBody>
        </p:sp>
      </p:grpSp>
      <p:sp>
        <p:nvSpPr>
          <p:cNvPr id="16" name="Text 12"/>
          <p:cNvSpPr/>
          <p:nvPr/>
        </p:nvSpPr>
        <p:spPr>
          <a:xfrm>
            <a:off x="65532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[AI 카메라 설정]의 [설정진행하기]를 누른 뒤, 화각 확인 1에서 [</a:t>
            </a:r>
            <a:r>
              <a:rPr lang="en-US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부착 위치 확인은 다음 단계에서 진행합니다.</a:t>
            </a:r>
            <a:endParaRPr lang="en-US" sz="17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9AB6EB5-9743-C3C7-E555-0E477EEAF28C}"/>
              </a:ext>
            </a:extLst>
          </p:cNvPr>
          <p:cNvSpPr/>
          <p:nvPr/>
        </p:nvSpPr>
        <p:spPr>
          <a:xfrm>
            <a:off x="337032" y="1828801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6A2E8059-CDCA-93AF-7DA9-C0A29540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08" y="2004319"/>
            <a:ext cx="5697577" cy="3198639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F7CFDA42-674A-D7A3-CD27-496321D9936F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4EC5B65-CB45-BF38-CA11-C689FF01411B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92732B-609A-AABF-F08B-81E96EF0FE74}"/>
              </a:ext>
            </a:extLst>
          </p:cNvPr>
          <p:cNvGrpSpPr/>
          <p:nvPr/>
        </p:nvGrpSpPr>
        <p:grpSpPr>
          <a:xfrm>
            <a:off x="6142207" y="1738653"/>
            <a:ext cx="5623137" cy="3329736"/>
            <a:chOff x="2746973" y="1744218"/>
            <a:chExt cx="6667576" cy="3886200"/>
          </a:xfrm>
        </p:grpSpPr>
        <p:sp>
          <p:nvSpPr>
            <p:cNvPr id="8" name="Shape 6"/>
            <p:cNvSpPr/>
            <p:nvPr/>
          </p:nvSpPr>
          <p:spPr>
            <a:xfrm>
              <a:off x="2746973" y="1744218"/>
              <a:ext cx="6667576" cy="38862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8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6973" y="1744218"/>
              <a:ext cx="6667576" cy="3886200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6034088" y="5222367"/>
              <a:ext cx="333379" cy="388621"/>
            </a:xfrm>
            <a:prstGeom prst="rect">
              <a:avLst/>
            </a:prstGeom>
            <a:ln w="3175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 8"/>
          <p:cNvSpPr/>
          <p:nvPr/>
        </p:nvSpPr>
        <p:spPr>
          <a:xfrm>
            <a:off x="640080" y="5425440"/>
            <a:ext cx="10881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2에서 [</a:t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], </a:t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 의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'카메라 화면을 보며 카메라의 각도를 변경해 주세요' 문구 중 '세요' 글자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endParaRPr lang="en-US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빨간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네모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위치에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카메라를 부착하면 화면 정가운데쯤에 위치하게 됩니다.</a:t>
            </a:r>
            <a:endParaRPr lang="en-US" sz="17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2A7FACD-12D9-5B7F-85D7-EEF817DDD7CE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6155828-F65F-D735-7802-CCDD4B0E44EB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1551EF8-21E7-1840-62E7-7E4393EED472}"/>
              </a:ext>
            </a:extLst>
          </p:cNvPr>
          <p:cNvGrpSpPr/>
          <p:nvPr/>
        </p:nvGrpSpPr>
        <p:grpSpPr>
          <a:xfrm>
            <a:off x="329908" y="1738653"/>
            <a:ext cx="5555338" cy="3329736"/>
            <a:chOff x="6270902" y="2162429"/>
            <a:chExt cx="5401414" cy="3127503"/>
          </a:xfrm>
        </p:grpSpPr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B5EBD316-3152-C617-E4CA-3D019F903B95}"/>
                </a:ext>
              </a:extLst>
            </p:cNvPr>
            <p:cNvSpPr/>
            <p:nvPr/>
          </p:nvSpPr>
          <p:spPr>
            <a:xfrm>
              <a:off x="6216880" y="2162429"/>
              <a:ext cx="5509460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1" descr="/tmp/claude-0/-home-user-ars/e10980de-cf93-514e-8d8f-658883089fc8/scratchpad/photos/b3.jpg">
              <a:extLst>
                <a:ext uri="{FF2B5EF4-FFF2-40B4-BE49-F238E27FC236}">
                  <a16:creationId xmlns:a16="http://schemas.microsoft.com/office/drawing/2014/main" id="{12B6994A-9F73-7E0A-5381-29ED35F43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6880" y="2162429"/>
              <a:ext cx="5509460" cy="3127503"/>
            </a:xfrm>
            <a:prstGeom prst="rect">
              <a:avLst/>
            </a:prstGeom>
          </p:spPr>
        </p:pic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0D6438B5-7F67-05DE-5E5F-F12EA73A813C}"/>
                </a:ext>
              </a:extLst>
            </p:cNvPr>
            <p:cNvSpPr/>
            <p:nvPr/>
          </p:nvSpPr>
          <p:spPr>
            <a:xfrm>
              <a:off x="6362342" y="22407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FDACF39-E6D0-DBB3-FC82-E13399D5EF95}"/>
                </a:ext>
              </a:extLst>
            </p:cNvPr>
            <p:cNvSpPr/>
            <p:nvPr/>
          </p:nvSpPr>
          <p:spPr>
            <a:xfrm>
              <a:off x="6362342" y="2247101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2</a:t>
              </a:r>
              <a:endParaRPr lang="en-US" sz="1100" dirty="0"/>
            </a:p>
          </p:txBody>
        </p:sp>
      </p:grpSp>
      <p:sp>
        <p:nvSpPr>
          <p:cNvPr id="25" name="Shape 10">
            <a:extLst>
              <a:ext uri="{FF2B5EF4-FFF2-40B4-BE49-F238E27FC236}">
                <a16:creationId xmlns:a16="http://schemas.microsoft.com/office/drawing/2014/main" id="{7DE924F6-0C3C-EC38-A405-55D84B807201}"/>
              </a:ext>
            </a:extLst>
          </p:cNvPr>
          <p:cNvSpPr/>
          <p:nvPr/>
        </p:nvSpPr>
        <p:spPr>
          <a:xfrm>
            <a:off x="6271759" y="1836006"/>
            <a:ext cx="1410686" cy="350470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pPr algn="ctr"/>
            <a:endParaRPr lang="en-US" altLang="ko-KR" sz="11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FA541B1-A5CE-CAED-B73E-C47CA380ACE8}"/>
              </a:ext>
            </a:extLst>
          </p:cNvPr>
          <p:cNvSpPr/>
          <p:nvPr/>
        </p:nvSpPr>
        <p:spPr>
          <a:xfrm>
            <a:off x="6283326" y="1835662"/>
            <a:ext cx="1410686" cy="35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 </a:t>
            </a:r>
            <a:r>
              <a:rPr lang="en-US" sz="11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E5F7-3F36-6375-A8A6-991CA44C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CDADD7-3EAF-43C3-8FD5-5E99142280AA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62D00B-E739-849B-D184-38138B17C0B9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436FE3-C1B0-432E-898A-810CD23CD750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E0F1411-865A-833B-E349-E5C6E60A2529}"/>
              </a:ext>
            </a:extLst>
          </p:cNvPr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및 화각 조정 후 카메라를 부착하고, 부착된 카메라와 카메라가 바라보는 화면이 함께 나오도록 촬영하여 설치 완료 사진으로 제출합니다.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8458E19-523C-C341-93A5-9DCF660571FF}"/>
              </a:ext>
            </a:extLst>
          </p:cNvPr>
          <p:cNvSpPr/>
          <p:nvPr/>
        </p:nvSpPr>
        <p:spPr>
          <a:xfrm>
            <a:off x="64008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사진 촬영 안내</a:t>
            </a:r>
            <a:endParaRPr lang="en-US" sz="2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B5B89A8-7326-E720-698C-478F724CA582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sp>
        <p:nvSpPr>
          <p:cNvPr id="22" name="phbox">
            <a:extLst>
              <a:ext uri="{FF2B5EF4-FFF2-40B4-BE49-F238E27FC236}">
                <a16:creationId xmlns:a16="http://schemas.microsoft.com/office/drawing/2014/main" id="{51FCF110-D8C5-1C87-6FA3-6D86D83CFA5C}"/>
              </a:ext>
            </a:extLst>
          </p:cNvPr>
          <p:cNvSpPr/>
          <p:nvPr/>
        </p:nvSpPr>
        <p:spPr>
          <a:xfrm>
            <a:off x="2441448" y="1691640"/>
            <a:ext cx="7315200" cy="4023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9AA0A6"/>
            </a:solidFill>
            <a:prstDash val="dash"/>
          </a:ln>
        </p:spPr>
        <p:txBody>
          <a:bodyPr anchor="ctr"/>
          <a:lstStyle/>
          <a:p>
            <a:pPr algn="ctr"/>
            <a:r>
              <a:rPr lang="ko-KR" sz="1500" dirty="0">
                <a:solidFill>
                  <a:srgbClr val="9AA0A6"/>
                </a:solidFill>
                <a:latin typeface="Pretendard"/>
                <a:ea typeface="Pretendard"/>
              </a:rPr>
              <a:t>(카메라 + 카메라가 바라보는 화면)</a:t>
            </a:r>
          </a:p>
        </p:txBody>
      </p:sp>
    </p:spTree>
    <p:extLst>
      <p:ext uri="{BB962C8B-B14F-4D97-AF65-F5344CB8AC3E}">
        <p14:creationId xmlns:p14="http://schemas.microsoft.com/office/powerpoint/2010/main" val="374309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15A431-7231-163B-562F-C6AAD4A7936F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0C118D-5CC1-E42F-27CF-91A78DD94212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6057682"/>
            <a:ext cx="1088136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 후 [다음]을 누르면 '디바이스 및 카메라 설정 완료' 화면이 표시됩니다. [확인]을 누르면 설정 페이지로 돌아갑니다. (추가 AI 모드 설정은 AI On-Ad CMS → 디바이스 관리 → 'AI 설정'에서 진행)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완료 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E7DFF08-58CF-B074-EC8C-9CCBEB3082FC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91E7454-50AE-7699-FB5B-99DFD9A79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051" y="1564480"/>
            <a:ext cx="7179378" cy="40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확인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640" y="1783080"/>
            <a:ext cx="2185988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40" y="1783080"/>
            <a:ext cx="2185988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4908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34908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모습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17948" y="1783080"/>
            <a:ext cx="7213364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b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948" y="1783080"/>
            <a:ext cx="7213364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09388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809388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완료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717948" y="5869800"/>
            <a:ext cx="510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</a:rPr>
              <a:t>정상 부착된 주목도 분석용 카메라 위치 입니다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</a:rPr>
              <a:t>.</a:t>
            </a:r>
            <a:endParaRPr lang="en-US" sz="17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2AB5B0F-45CF-DA43-0C55-2DE2F2553BB4}"/>
              </a:ext>
            </a:extLst>
          </p:cNvPr>
          <p:cNvGrpSpPr/>
          <p:nvPr/>
        </p:nvGrpSpPr>
        <p:grpSpPr>
          <a:xfrm>
            <a:off x="5620771" y="2720835"/>
            <a:ext cx="2515906" cy="2956733"/>
            <a:chOff x="4362818" y="3104012"/>
            <a:chExt cx="2515906" cy="295673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0EF4A9C-3B9D-67D8-3751-FC2675E72EC3}"/>
                </a:ext>
              </a:extLst>
            </p:cNvPr>
            <p:cNvSpPr/>
            <p:nvPr/>
          </p:nvSpPr>
          <p:spPr>
            <a:xfrm>
              <a:off x="5936622" y="5825614"/>
              <a:ext cx="502319" cy="2351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Image 1" descr="/tmp/claude-0/-home-user-ars/e10980de-cf93-514e-8d8f-658883089fc8/scratchpad/photos/photo12.jpg">
              <a:extLst>
                <a:ext uri="{FF2B5EF4-FFF2-40B4-BE49-F238E27FC236}">
                  <a16:creationId xmlns:a16="http://schemas.microsoft.com/office/drawing/2014/main" id="{F84C6AD9-79B3-FBC5-14F4-0D695A28A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8199" t="94204" r="44816"/>
            <a:stretch>
              <a:fillRect/>
            </a:stretch>
          </p:blipFill>
          <p:spPr>
            <a:xfrm>
              <a:off x="4362818" y="3104012"/>
              <a:ext cx="2515906" cy="96427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C936891-7FDB-4725-EE70-26FB73903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8941" y="4068290"/>
              <a:ext cx="439783" cy="17573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CB4D9B6-945C-47BD-01F5-693C9E4648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2818" y="4084340"/>
              <a:ext cx="1573804" cy="1976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통신 테스트 및 기능 활성화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서버 통신 테스트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의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테스트 진행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 후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적용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</a:t>
            </a:r>
            <a:endParaRPr lang="en-US" altLang="ko-KR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앱 재부팅 되며 모니터 우측 상단 </a:t>
            </a:r>
            <a:r>
              <a:rPr lang="ko-KR" altLang="en-US" sz="1700" dirty="0">
                <a:solidFill>
                  <a:schemeClr val="accent6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</a:rPr>
              <a:t>● </a:t>
            </a:r>
            <a:r>
              <a:rPr lang="ko-KR" altLang="en-US" sz="1700" dirty="0">
                <a:latin typeface="Pretendard" pitchFamily="34" charset="0"/>
                <a:ea typeface="Pretendard" pitchFamily="34" charset="-122"/>
              </a:rPr>
              <a:t>표시 뜨면 정상 설치 완료</a:t>
            </a:r>
            <a:endParaRPr lang="en-US" sz="17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03A870C0-B829-3149-EC74-D2C77867EDD9}"/>
              </a:ext>
            </a:extLst>
          </p:cNvPr>
          <p:cNvSpPr/>
          <p:nvPr/>
        </p:nvSpPr>
        <p:spPr>
          <a:xfrm>
            <a:off x="789878" y="1792353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11F92956-3A68-31ED-8E3D-D54FBA96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815912" cy="3476782"/>
          </a:xfrm>
          <a:prstGeom prst="rect">
            <a:avLst/>
          </a:prstGeom>
        </p:spPr>
      </p:pic>
      <p:sp>
        <p:nvSpPr>
          <p:cNvPr id="23" name="Shape 10">
            <a:extLst>
              <a:ext uri="{FF2B5EF4-FFF2-40B4-BE49-F238E27FC236}">
                <a16:creationId xmlns:a16="http://schemas.microsoft.com/office/drawing/2014/main" id="{02FC5E57-75ED-1C1D-ED75-AE29639D1AE8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1BE4A80-9223-9E91-B7A8-A0F51B264854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6E21F49-343C-735F-B5DF-F293669CD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534" y="1828799"/>
            <a:ext cx="5299666" cy="347678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5900174-6A15-658E-D0F7-82D21D4BC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1838" y="2122150"/>
            <a:ext cx="1370284" cy="10962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35" name="Shape 7">
            <a:extLst>
              <a:ext uri="{FF2B5EF4-FFF2-40B4-BE49-F238E27FC236}">
                <a16:creationId xmlns:a16="http://schemas.microsoft.com/office/drawing/2014/main" id="{903ABD00-C734-9543-E96F-D280A9BAFA83}"/>
              </a:ext>
            </a:extLst>
          </p:cNvPr>
          <p:cNvSpPr/>
          <p:nvPr/>
        </p:nvSpPr>
        <p:spPr>
          <a:xfrm>
            <a:off x="11660777" y="1853876"/>
            <a:ext cx="175018" cy="192638"/>
          </a:xfrm>
          <a:prstGeom prst="rect">
            <a:avLst/>
          </a:prstGeom>
          <a:ln w="317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0FAF7FB-9560-DF16-76D4-608CDE83D3CF}"/>
              </a:ext>
            </a:extLst>
          </p:cNvPr>
          <p:cNvCxnSpPr>
            <a:stCxn id="35" idx="0"/>
          </p:cNvCxnSpPr>
          <p:nvPr/>
        </p:nvCxnSpPr>
        <p:spPr>
          <a:xfrm flipH="1">
            <a:off x="10031838" y="1853876"/>
            <a:ext cx="1716448" cy="2682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E47F0CA-C386-2D8E-27E0-91506D6A557D}"/>
              </a:ext>
            </a:extLst>
          </p:cNvPr>
          <p:cNvCxnSpPr/>
          <p:nvPr/>
        </p:nvCxnSpPr>
        <p:spPr>
          <a:xfrm flipH="1">
            <a:off x="11402122" y="2046514"/>
            <a:ext cx="433673" cy="11718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0" name="redbox"/>
          <p:cNvSpPr/>
          <p:nvPr/>
        </p:nvSpPr>
        <p:spPr>
          <a:xfrm>
            <a:off x="5686193" y="4593458"/>
            <a:ext cx="556575" cy="330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A4C8-AB12-4DA7-3B7A-3A76F0BC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B2E72B-E2BC-43D6-9107-CC4BFE711E57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5191D-ABEE-C593-1E1B-99A2E2226AAA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FDBC13-8FF1-8651-67AE-464F0E3F365C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8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996024-8B04-0D42-DB55-05261E19A89E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D6C85B-98F3-C9B4-99B3-51DE4D23B4F8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F12112-58C0-64E6-4937-4F6842BEA2BA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LED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가리기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정리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897D456-965C-CAAE-98EF-4A1CA0B125C4}"/>
              </a:ext>
            </a:extLst>
          </p:cNvPr>
          <p:cNvSpPr/>
          <p:nvPr/>
        </p:nvSpPr>
        <p:spPr>
          <a:xfrm>
            <a:off x="1392301" y="1783080"/>
            <a:ext cx="64211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6.jpg">
            <a:extLst>
              <a:ext uri="{FF2B5EF4-FFF2-40B4-BE49-F238E27FC236}">
                <a16:creationId xmlns:a16="http://schemas.microsoft.com/office/drawing/2014/main" id="{24D2E33A-3275-FDD0-0409-C1902E36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01" y="1783080"/>
            <a:ext cx="6421120" cy="3611880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809D4357-D11A-31BB-15B0-635EC9D30EB2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EE9832-4A0B-3DF6-2262-18506A0B0A9A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위치 확인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33ED17-C29F-1A94-7A36-81DCDDAAA70E}"/>
              </a:ext>
            </a:extLst>
          </p:cNvPr>
          <p:cNvSpPr/>
          <p:nvPr/>
        </p:nvSpPr>
        <p:spPr>
          <a:xfrm>
            <a:off x="8087741" y="1783080"/>
            <a:ext cx="270891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c1.jpg">
            <a:extLst>
              <a:ext uri="{FF2B5EF4-FFF2-40B4-BE49-F238E27FC236}">
                <a16:creationId xmlns:a16="http://schemas.microsoft.com/office/drawing/2014/main" id="{AABC37CF-3E73-D7B9-4EF7-D9E882AF4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741" y="1783080"/>
            <a:ext cx="2708910" cy="361188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14D451E2-89A6-2DDE-B6AC-245B3542C303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1D660ED-00F7-F751-A845-C4BE7CC82EBC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마커로 칠하기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7852EB5-E676-C76A-595E-67E384BD8F2F}"/>
              </a:ext>
            </a:extLst>
          </p:cNvPr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작동 시 흰 불(LED)이 들어오는 부분을 전달받은 페인트 마커로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칠합니다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7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7F5887D-B9E5-F983-06C8-F1FD28358FAF}"/>
              </a:ext>
            </a:extLst>
          </p:cNvPr>
          <p:cNvSpPr/>
          <p:nvPr/>
        </p:nvSpPr>
        <p:spPr>
          <a:xfrm>
            <a:off x="640080" y="61036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칠하기 전 보호 필름 제거 필수  ·  일반 매직(유성펜)은 지워지므로 반드시 페인트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</a:t>
            </a: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en-US" altLang="ko-KR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</a:t>
            </a:r>
            <a:r>
              <a:rPr lang="ko-KR" alt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케이블이 노출되지 않도록 케이블 타이로 정리 필수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8198D8B-A688-E3C9-8F13-B8949430F304}"/>
              </a:ext>
            </a:extLst>
          </p:cNvPr>
          <p:cNvSpPr/>
          <p:nvPr/>
        </p:nvSpPr>
        <p:spPr>
          <a:xfrm>
            <a:off x="660781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7502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ln w="3175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966960" y="3977640"/>
            <a:ext cx="502920" cy="502920"/>
          </a:xfrm>
          <a:prstGeom prst="ellipse">
            <a:avLst/>
          </a:prstGeom>
          <a:ln w="2540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554480" cy="155448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AI 카메라 설치 방법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방법은 동선스크린과 동일하며, </a:t>
            </a: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2대를 설치합니다.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(매장 내부 1대 · 매장 외부 1대)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6×1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매체 구성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42616" y="1783080"/>
            <a:ext cx="6912864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783080"/>
            <a:ext cx="6912864" cy="3886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계산대미디어는 모니터 6대가 가로로 연결된 6×1 구성의 매체입니다. 매장 내부·외부를 바라보는 카메라 설치 위치는 추후 도면으로 전달 예정입니다.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19" y="1188720"/>
            <a:ext cx="43608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분배기 전원부 분리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셋톱박스에 연결되어 있는 HDMI 분배기의 전원부(USB 단자)를 분리합니다.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83780" y="1143000"/>
            <a:ext cx="2880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tmp/claude-0/-home-user-ars/e10980de-cf93-514e-8d8f-658883089fc8/scratchpad/photos/a4.jpg">
            <a:extLst>
              <a:ext uri="{FF2B5EF4-FFF2-40B4-BE49-F238E27FC236}">
                <a16:creationId xmlns:a16="http://schemas.microsoft.com/office/drawing/2014/main" id="{D763CD51-ECB7-3726-2AE3-0FF7B2CD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143000"/>
            <a:ext cx="2880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콘센트 연결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63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분배기의 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단자를 </a:t>
            </a:r>
            <a:endParaRPr lang="en-US" altLang="ko-KR" sz="19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제공된 어댑터에 결합하여 콘센트에 연결합니다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83780" y="1143000"/>
            <a:ext cx="2880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tmp/claude-0/-home-user-ars/e10980de-cf93-514e-8d8f-658883089fc8/scratchpad/photos/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143000"/>
            <a:ext cx="2880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연결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185416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3" y="1783080"/>
            <a:ext cx="2809385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4524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945239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위에서 내리기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01968" y="1783080"/>
            <a:ext cx="2185416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7" y="1783080"/>
            <a:ext cx="2742329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93408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693408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아래에서 받기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카메라를 모니터 사이 틈으로 위에서 내리고 아래에서 받아 전달한 뒤,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카메라의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USB 단자를 셋톱박스의 USB 포트에 연결합니다.</a:t>
            </a:r>
            <a:endParaRPr lang="en-US" sz="17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676A6B-AB51-59BB-0CBC-4EAC41BBE053}"/>
              </a:ext>
            </a:extLst>
          </p:cNvPr>
          <p:cNvSpPr/>
          <p:nvPr/>
        </p:nvSpPr>
        <p:spPr>
          <a:xfrm>
            <a:off x="3870444" y="3111130"/>
            <a:ext cx="945396" cy="3291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619F4C-39D1-8CB6-C4A1-BBF13C27DA1D}"/>
              </a:ext>
            </a:extLst>
          </p:cNvPr>
          <p:cNvSpPr/>
          <p:nvPr/>
        </p:nvSpPr>
        <p:spPr>
          <a:xfrm>
            <a:off x="7855131" y="2917371"/>
            <a:ext cx="435430" cy="6705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히든키 입력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2529" y="1783080"/>
            <a:ext cx="2694737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4.jpg"/>
          <p:cNvPicPr>
            <a:picLocks noChangeAspect="1"/>
          </p:cNvPicPr>
          <p:nvPr/>
        </p:nvPicPr>
        <p:blipFill>
          <a:blip r:embed="rId2"/>
          <a:srcRect l="31070" r="30686" b="6274"/>
          <a:stretch>
            <a:fillRect/>
          </a:stretch>
        </p:blipFill>
        <p:spPr>
          <a:xfrm>
            <a:off x="1335024" y="1783080"/>
            <a:ext cx="2694629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23969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423969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히든키 입력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70448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셋톱박스-리모컨 페어링 후 리모컨으로 히든키(되감기 0407)를 입력하면 ON AD 셋톱박스 설정 페이지가 열립니다. </a:t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[AI 모드]의 [변경] 버튼을 누릅니다</a:t>
            </a:r>
            <a:r>
              <a:rPr lang="en-US" altLang="ko-KR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 err="1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700" b="1" dirty="0">
              <a:solidFill>
                <a:srgbClr val="FF0000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AFE4E49-B5DC-C172-3580-AEED9FBDF52C}"/>
              </a:ext>
            </a:extLst>
          </p:cNvPr>
          <p:cNvGrpSpPr/>
          <p:nvPr/>
        </p:nvGrpSpPr>
        <p:grpSpPr>
          <a:xfrm>
            <a:off x="4517136" y="1783080"/>
            <a:ext cx="5968080" cy="3657600"/>
            <a:chOff x="4517136" y="1783080"/>
            <a:chExt cx="5968080" cy="3657600"/>
          </a:xfrm>
        </p:grpSpPr>
        <p:sp>
          <p:nvSpPr>
            <p:cNvPr id="12" name="Shape 9"/>
            <p:cNvSpPr/>
            <p:nvPr/>
          </p:nvSpPr>
          <p:spPr>
            <a:xfrm>
              <a:off x="4521499" y="1783080"/>
              <a:ext cx="5963717" cy="3657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/tmp/claude-0/-home-user-ars/e10980de-cf93-514e-8d8f-658883089fc8/scratchpad/photos/b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7136" y="1783080"/>
              <a:ext cx="5964040" cy="3657600"/>
            </a:xfrm>
            <a:prstGeom prst="rect">
              <a:avLst/>
            </a:prstGeom>
          </p:spPr>
        </p:pic>
        <p:sp>
          <p:nvSpPr>
            <p:cNvPr id="14" name="Shape 10"/>
            <p:cNvSpPr/>
            <p:nvPr/>
          </p:nvSpPr>
          <p:spPr>
            <a:xfrm>
              <a:off x="4612939" y="18745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4612939" y="1874520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설정 페이지</a:t>
              </a:r>
              <a:endParaRPr lang="en-US" sz="11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59ABCB6-BEC7-9AD2-5D46-EE04F70CC4FF}"/>
              </a:ext>
            </a:extLst>
          </p:cNvPr>
          <p:cNvSpPr txBox="1"/>
          <p:nvPr/>
        </p:nvSpPr>
        <p:spPr>
          <a:xfrm>
            <a:off x="640080" y="6528816"/>
            <a:ext cx="11247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" b="1" dirty="0">
                <a:solidFill>
                  <a:srgbClr val="FF0000"/>
                </a:solidFill>
              </a:rPr>
              <a:t>※ </a:t>
            </a:r>
            <a:r>
              <a:rPr lang="ko-KR" altLang="en-US" sz="1150" b="1" dirty="0" err="1">
                <a:solidFill>
                  <a:srgbClr val="FF0000"/>
                </a:solidFill>
              </a:rPr>
              <a:t>히든키</a:t>
            </a:r>
            <a:r>
              <a:rPr lang="ko-KR" altLang="en-US" sz="1150" b="1" dirty="0">
                <a:solidFill>
                  <a:srgbClr val="FF0000"/>
                </a:solidFill>
              </a:rPr>
              <a:t> 입력 시 되감기 누른 상태에서 </a:t>
            </a:r>
            <a:r>
              <a:rPr lang="en-US" altLang="ko-KR" sz="1150" b="1" dirty="0">
                <a:solidFill>
                  <a:srgbClr val="FF0000"/>
                </a:solidFill>
              </a:rPr>
              <a:t>0407 </a:t>
            </a:r>
            <a:r>
              <a:rPr lang="ko-KR" altLang="en-US" sz="1150" b="1" dirty="0">
                <a:solidFill>
                  <a:srgbClr val="FF0000"/>
                </a:solidFill>
              </a:rPr>
              <a:t>입력이 아닌 되감기 </a:t>
            </a:r>
            <a:r>
              <a:rPr lang="en-US" altLang="ko-KR" sz="1150" b="1" dirty="0">
                <a:solidFill>
                  <a:srgbClr val="FF0000"/>
                </a:solidFill>
              </a:rPr>
              <a:t>-&gt;0-&gt;4-&gt;0-&gt;7 </a:t>
            </a:r>
            <a:r>
              <a:rPr lang="ko-KR" altLang="en-US" sz="1150" b="1" dirty="0">
                <a:solidFill>
                  <a:srgbClr val="FF0000"/>
                </a:solidFill>
              </a:rPr>
              <a:t>순차 입력 입니다</a:t>
            </a:r>
            <a:r>
              <a:rPr lang="en-US" altLang="ko-KR" sz="1150" b="1" dirty="0">
                <a:solidFill>
                  <a:srgbClr val="FF0000"/>
                </a:solidFill>
              </a:rPr>
              <a:t>.</a:t>
            </a:r>
            <a:endParaRPr lang="ko-KR" altLang="en-US" sz="1300" b="1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F376ED-AA41-19E7-5C9E-2942C3772D36}"/>
              </a:ext>
            </a:extLst>
          </p:cNvPr>
          <p:cNvSpPr/>
          <p:nvPr/>
        </p:nvSpPr>
        <p:spPr>
          <a:xfrm>
            <a:off x="1715144" y="3979329"/>
            <a:ext cx="641981" cy="185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6D0824-C50F-850B-A63E-B606F3F421CD}"/>
              </a:ext>
            </a:extLst>
          </p:cNvPr>
          <p:cNvSpPr/>
          <p:nvPr/>
        </p:nvSpPr>
        <p:spPr>
          <a:xfrm>
            <a:off x="1732038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46D38E-AEF6-B587-7F40-741877F628E8}"/>
              </a:ext>
            </a:extLst>
          </p:cNvPr>
          <p:cNvSpPr/>
          <p:nvPr/>
        </p:nvSpPr>
        <p:spPr>
          <a:xfrm>
            <a:off x="3125812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1" name="badge901"/>
          <p:cNvSpPr/>
          <p:nvPr/>
        </p:nvSpPr>
        <p:spPr>
          <a:xfrm>
            <a:off x="1577984" y="3842169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02" name="badge902"/>
          <p:cNvSpPr/>
          <p:nvPr/>
        </p:nvSpPr>
        <p:spPr>
          <a:xfrm>
            <a:off x="1594878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03" name="badge903"/>
          <p:cNvSpPr/>
          <p:nvPr/>
        </p:nvSpPr>
        <p:spPr>
          <a:xfrm>
            <a:off x="2988652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90" name="legend"/>
          <p:cNvSpPr/>
          <p:nvPr/>
        </p:nvSpPr>
        <p:spPr>
          <a:xfrm>
            <a:off x="1335024" y="5522976"/>
            <a:ext cx="82296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50" b="1" dirty="0">
                <a:solidFill>
                  <a:srgbClr val="FF0000"/>
                </a:solidFill>
                <a:latin typeface="Pretendard"/>
                <a:ea typeface="Pretendard"/>
              </a:rPr>
              <a:t>➊ 되감기 버튼</a:t>
            </a:r>
            <a:r>
              <a:rPr lang="ko-KR" sz="1250" dirty="0">
                <a:latin typeface="Pretendard"/>
                <a:ea typeface="Pretendard"/>
              </a:rPr>
              <a:t>     </a:t>
            </a:r>
            <a:r>
              <a:rPr lang="ko-KR" sz="1250" b="1" dirty="0">
                <a:solidFill>
                  <a:srgbClr val="2E9E4F"/>
                </a:solidFill>
                <a:latin typeface="Pretendard"/>
                <a:ea typeface="Pretendard"/>
              </a:rPr>
              <a:t>➋ 페어링 버튼 (양쪽 동시 입력)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AI 모드 변경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65260" y="1783080"/>
            <a:ext cx="6667576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모드를 [성별/연령 분석]으로 선택한 뒤 [적용]을 누릅니다.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동선스크린([통행량 + 성별/연령 분석])과 설정값이 다르니 주의</a:t>
            </a:r>
            <a:endParaRPr lang="en-US" sz="17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EE277C-64B9-D913-C211-E3A2D836F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260" y="1783080"/>
            <a:ext cx="666757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② — 화각 확인</a:t>
            </a:r>
            <a:endParaRPr lang="en-US" sz="24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40CB90-BF37-92A0-A5DC-E8033E9B5200}"/>
              </a:ext>
            </a:extLst>
          </p:cNvPr>
          <p:cNvGrpSpPr/>
          <p:nvPr/>
        </p:nvGrpSpPr>
        <p:grpSpPr>
          <a:xfrm>
            <a:off x="6096000" y="1865248"/>
            <a:ext cx="5667528" cy="3440335"/>
            <a:chOff x="516636" y="2162429"/>
            <a:chExt cx="5479946" cy="3127503"/>
          </a:xfrm>
        </p:grpSpPr>
        <p:sp>
          <p:nvSpPr>
            <p:cNvPr id="8" name="Shape 6"/>
            <p:cNvSpPr/>
            <p:nvPr/>
          </p:nvSpPr>
          <p:spPr>
            <a:xfrm>
              <a:off x="518435" y="2162429"/>
              <a:ext cx="5476348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489" y="2287529"/>
              <a:ext cx="5038240" cy="2877303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608076" y="2253869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608076" y="2253869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1</a:t>
              </a:r>
              <a:endParaRPr lang="en-US" sz="1100" dirty="0"/>
            </a:p>
          </p:txBody>
        </p:sp>
      </p:grpSp>
      <p:sp>
        <p:nvSpPr>
          <p:cNvPr id="16" name="Text 12"/>
          <p:cNvSpPr/>
          <p:nvPr/>
        </p:nvSpPr>
        <p:spPr>
          <a:xfrm>
            <a:off x="65532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[AI 카메라 설정]의 [설정진행하기]를 누른 뒤, 화각 확인 1에서 [</a:t>
            </a:r>
            <a:r>
              <a:rPr lang="en-US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부착 위치 확인은 다음 단계에서 진행합니다.</a:t>
            </a:r>
            <a:endParaRPr lang="en-US" sz="17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9AB6EB5-9743-C3C7-E555-0E477EEAF28C}"/>
              </a:ext>
            </a:extLst>
          </p:cNvPr>
          <p:cNvSpPr/>
          <p:nvPr/>
        </p:nvSpPr>
        <p:spPr>
          <a:xfrm>
            <a:off x="337032" y="1828801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6A2E8059-CDCA-93AF-7DA9-C0A29540B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02" y="2004319"/>
            <a:ext cx="5824190" cy="3198639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F7CFDA42-674A-D7A3-CD27-496321D9936F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4EC5B65-CB45-BF38-CA11-C689FF01411B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92732B-609A-AABF-F08B-81E96EF0FE74}"/>
              </a:ext>
            </a:extLst>
          </p:cNvPr>
          <p:cNvGrpSpPr/>
          <p:nvPr/>
        </p:nvGrpSpPr>
        <p:grpSpPr>
          <a:xfrm>
            <a:off x="6142207" y="1738653"/>
            <a:ext cx="5623137" cy="3329736"/>
            <a:chOff x="2746973" y="1744218"/>
            <a:chExt cx="6667576" cy="3886200"/>
          </a:xfrm>
        </p:grpSpPr>
        <p:sp>
          <p:nvSpPr>
            <p:cNvPr id="8" name="Shape 6"/>
            <p:cNvSpPr/>
            <p:nvPr/>
          </p:nvSpPr>
          <p:spPr>
            <a:xfrm>
              <a:off x="2746973" y="1744218"/>
              <a:ext cx="6667576" cy="38862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8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6973" y="1744218"/>
              <a:ext cx="6667576" cy="3886200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6034089" y="5222367"/>
              <a:ext cx="333379" cy="408051"/>
            </a:xfrm>
            <a:prstGeom prst="rect">
              <a:avLst/>
            </a:prstGeom>
            <a:ln w="3175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 8"/>
          <p:cNvSpPr/>
          <p:nvPr/>
        </p:nvSpPr>
        <p:spPr>
          <a:xfrm>
            <a:off x="640080" y="5425440"/>
            <a:ext cx="10881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2에서 [</a:t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], </a:t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 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'카메라 화면을 보며 카메라의 각도를 변경해 주세요' 문구 중 '세요' 글자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endParaRPr lang="en-US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(빨간 네모 위치)에 카메라를 부착하면 화면 정가운데쯤에 위치하게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됩니다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endParaRPr lang="en-US" sz="17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2A7FACD-12D9-5B7F-85D7-EEF817DDD7CE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6155828-F65F-D735-7802-CCDD4B0E44EB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1551EF8-21E7-1840-62E7-7E4393EED472}"/>
              </a:ext>
            </a:extLst>
          </p:cNvPr>
          <p:cNvGrpSpPr/>
          <p:nvPr/>
        </p:nvGrpSpPr>
        <p:grpSpPr>
          <a:xfrm>
            <a:off x="329908" y="1738653"/>
            <a:ext cx="5555338" cy="3329736"/>
            <a:chOff x="6270902" y="2162429"/>
            <a:chExt cx="5401414" cy="3127503"/>
          </a:xfrm>
        </p:grpSpPr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B5EBD316-3152-C617-E4CA-3D019F903B95}"/>
                </a:ext>
              </a:extLst>
            </p:cNvPr>
            <p:cNvSpPr/>
            <p:nvPr/>
          </p:nvSpPr>
          <p:spPr>
            <a:xfrm>
              <a:off x="6216880" y="2162429"/>
              <a:ext cx="5509460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1" descr="/tmp/claude-0/-home-user-ars/e10980de-cf93-514e-8d8f-658883089fc8/scratchpad/photos/b3.jpg">
              <a:extLst>
                <a:ext uri="{FF2B5EF4-FFF2-40B4-BE49-F238E27FC236}">
                  <a16:creationId xmlns:a16="http://schemas.microsoft.com/office/drawing/2014/main" id="{12B6994A-9F73-7E0A-5381-29ED35F43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6880" y="2162429"/>
              <a:ext cx="5509460" cy="3127503"/>
            </a:xfrm>
            <a:prstGeom prst="rect">
              <a:avLst/>
            </a:prstGeom>
          </p:spPr>
        </p:pic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0D6438B5-7F67-05DE-5E5F-F12EA73A813C}"/>
                </a:ext>
              </a:extLst>
            </p:cNvPr>
            <p:cNvSpPr/>
            <p:nvPr/>
          </p:nvSpPr>
          <p:spPr>
            <a:xfrm>
              <a:off x="6362342" y="22407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FDACF39-E6D0-DBB3-FC82-E13399D5EF95}"/>
                </a:ext>
              </a:extLst>
            </p:cNvPr>
            <p:cNvSpPr/>
            <p:nvPr/>
          </p:nvSpPr>
          <p:spPr>
            <a:xfrm>
              <a:off x="6362342" y="2247101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2</a:t>
              </a:r>
              <a:endParaRPr lang="en-US" sz="1100" dirty="0"/>
            </a:p>
          </p:txBody>
        </p:sp>
      </p:grpSp>
      <p:sp>
        <p:nvSpPr>
          <p:cNvPr id="25" name="Shape 10">
            <a:extLst>
              <a:ext uri="{FF2B5EF4-FFF2-40B4-BE49-F238E27FC236}">
                <a16:creationId xmlns:a16="http://schemas.microsoft.com/office/drawing/2014/main" id="{7DE924F6-0C3C-EC38-A405-55D84B807201}"/>
              </a:ext>
            </a:extLst>
          </p:cNvPr>
          <p:cNvSpPr/>
          <p:nvPr/>
        </p:nvSpPr>
        <p:spPr>
          <a:xfrm>
            <a:off x="6271759" y="1836006"/>
            <a:ext cx="1410686" cy="350470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pPr algn="ctr"/>
            <a:endParaRPr lang="en-US" altLang="ko-KR" sz="11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FA541B1-A5CE-CAED-B73E-C47CA380ACE8}"/>
              </a:ext>
            </a:extLst>
          </p:cNvPr>
          <p:cNvSpPr/>
          <p:nvPr/>
        </p:nvSpPr>
        <p:spPr>
          <a:xfrm>
            <a:off x="6283326" y="1835662"/>
            <a:ext cx="1410686" cy="35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 </a:t>
            </a:r>
            <a:r>
              <a:rPr lang="en-US" sz="11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1450-8C4E-963D-B498-EAC55B41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E8B51F-871B-B5F5-BAC9-B2A249B1A4A4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A373E0-64F9-6375-CAD6-49282125A469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B1CE3E-622A-1E3A-5AF4-FF2EFC61C8FA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5780A9D-AE71-8409-33D5-75C83A729BCF}"/>
              </a:ext>
            </a:extLst>
          </p:cNvPr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및 화각 조정 후 카메라를 부착하고, 부착된 카메라와 카메라가 바라보는 화면이 함께 나오도록 촬영하여 설치 완료 사진으로 제출합니다.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4D6A89F-3723-7F4F-EB6E-95A02969E60B}"/>
              </a:ext>
            </a:extLst>
          </p:cNvPr>
          <p:cNvSpPr/>
          <p:nvPr/>
        </p:nvSpPr>
        <p:spPr>
          <a:xfrm>
            <a:off x="64008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사진 촬영 안내</a:t>
            </a:r>
            <a:endParaRPr lang="en-US" sz="2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7547B73-0E39-67B2-F545-3806AB699406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sp>
        <p:nvSpPr>
          <p:cNvPr id="22" name="phbox">
            <a:extLst>
              <a:ext uri="{FF2B5EF4-FFF2-40B4-BE49-F238E27FC236}">
                <a16:creationId xmlns:a16="http://schemas.microsoft.com/office/drawing/2014/main" id="{15E23E16-033E-704E-C618-4F21F0E0CE75}"/>
              </a:ext>
            </a:extLst>
          </p:cNvPr>
          <p:cNvSpPr/>
          <p:nvPr/>
        </p:nvSpPr>
        <p:spPr>
          <a:xfrm>
            <a:off x="2441448" y="1691640"/>
            <a:ext cx="7315200" cy="4023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9AA0A6"/>
            </a:solidFill>
            <a:prstDash val="dash"/>
          </a:ln>
        </p:spPr>
        <p:txBody>
          <a:bodyPr anchor="ctr"/>
          <a:lstStyle/>
          <a:p>
            <a:pPr algn="ctr"/>
            <a:r>
              <a:rPr lang="ko-KR" sz="1500" dirty="0">
                <a:solidFill>
                  <a:srgbClr val="9AA0A6"/>
                </a:solidFill>
                <a:latin typeface="Pretendard"/>
                <a:ea typeface="Pretendard"/>
              </a:rPr>
              <a:t>(카메라 + 카메라가 바라보는 화면)</a:t>
            </a:r>
          </a:p>
        </p:txBody>
      </p:sp>
    </p:spTree>
    <p:extLst>
      <p:ext uri="{BB962C8B-B14F-4D97-AF65-F5344CB8AC3E}">
        <p14:creationId xmlns:p14="http://schemas.microsoft.com/office/powerpoint/2010/main" val="3199747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15A431-7231-163B-562F-C6AAD4A7936F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0C118D-5CC1-E42F-27CF-91A78DD94212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6057682"/>
            <a:ext cx="1088136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 후 [다음]을 누르면 '장치 및 카메라 설정 완료' 화면이 표시됩니다. [확인]을 누른 뒤 설정 페이지에서 [적용]을 누르면 앱이 재시작됩니다.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완료 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E7DFF08-58CF-B074-EC8C-9CCBEB3082FC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91E7454-50AE-7699-FB5B-99DFD9A7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23" y="1563624"/>
            <a:ext cx="7300106" cy="407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확인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640" y="1783080"/>
            <a:ext cx="2185988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40" y="1783080"/>
            <a:ext cx="2185988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4908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34908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모습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17948" y="1783080"/>
            <a:ext cx="7213364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b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48" y="1783080"/>
            <a:ext cx="7213364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09388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809388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완료</a:t>
            </a:r>
            <a:endParaRPr lang="en-US" sz="11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2AB5B0F-45CF-DA43-0C55-2DE2F2553BB4}"/>
              </a:ext>
            </a:extLst>
          </p:cNvPr>
          <p:cNvGrpSpPr/>
          <p:nvPr/>
        </p:nvGrpSpPr>
        <p:grpSpPr>
          <a:xfrm>
            <a:off x="5620771" y="2720835"/>
            <a:ext cx="2515906" cy="2956733"/>
            <a:chOff x="4362818" y="3104012"/>
            <a:chExt cx="2515906" cy="295673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0EF4A9C-3B9D-67D8-3751-FC2675E72EC3}"/>
                </a:ext>
              </a:extLst>
            </p:cNvPr>
            <p:cNvSpPr/>
            <p:nvPr/>
          </p:nvSpPr>
          <p:spPr>
            <a:xfrm>
              <a:off x="5936622" y="5825614"/>
              <a:ext cx="502319" cy="2351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Image 1" descr="/tmp/claude-0/-home-user-ars/e10980de-cf93-514e-8d8f-658883089fc8/scratchpad/photos/photo12.jpg">
              <a:extLst>
                <a:ext uri="{FF2B5EF4-FFF2-40B4-BE49-F238E27FC236}">
                  <a16:creationId xmlns:a16="http://schemas.microsoft.com/office/drawing/2014/main" id="{F84C6AD9-79B3-FBC5-14F4-0D695A28A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199" t="94204" r="44816"/>
            <a:stretch>
              <a:fillRect/>
            </a:stretch>
          </p:blipFill>
          <p:spPr>
            <a:xfrm>
              <a:off x="4362818" y="3104012"/>
              <a:ext cx="2515906" cy="96427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C936891-7FDB-4725-EE70-26FB73903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8941" y="4068290"/>
              <a:ext cx="439783" cy="17573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CB4D9B6-945C-47BD-01F5-693C9E4648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2818" y="4084340"/>
              <a:ext cx="1573804" cy="1976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12">
            <a:extLst>
              <a:ext uri="{FF2B5EF4-FFF2-40B4-BE49-F238E27FC236}">
                <a16:creationId xmlns:a16="http://schemas.microsoft.com/office/drawing/2014/main" id="{95DD7AE6-F7ED-37D0-6E31-082D7832A49A}"/>
              </a:ext>
            </a:extLst>
          </p:cNvPr>
          <p:cNvSpPr/>
          <p:nvPr/>
        </p:nvSpPr>
        <p:spPr>
          <a:xfrm>
            <a:off x="3717948" y="5869800"/>
            <a:ext cx="510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</a:rPr>
              <a:t>정상 부착된 주목도 분석용 카메라 위치 입니다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통신 테스트 및 기능 활성화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서버 통신 테스트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의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테스트 진행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 후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적용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</a:t>
            </a:r>
            <a:endParaRPr lang="en-US" altLang="ko-KR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앱 재부팅 되며 모니터 우측 상단 </a:t>
            </a:r>
            <a:r>
              <a:rPr lang="ko-KR" altLang="en-US" sz="1700" dirty="0">
                <a:solidFill>
                  <a:schemeClr val="accent6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</a:rPr>
              <a:t>● </a:t>
            </a:r>
            <a:r>
              <a:rPr lang="ko-KR" altLang="en-US" sz="1700" dirty="0">
                <a:latin typeface="Pretendard" pitchFamily="34" charset="0"/>
                <a:ea typeface="Pretendard" pitchFamily="34" charset="-122"/>
              </a:rPr>
              <a:t>표시 뜨면 정상 설치 완료</a:t>
            </a:r>
            <a:endParaRPr lang="en-US" sz="17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03A870C0-B829-3149-EC74-D2C77867EDD9}"/>
              </a:ext>
            </a:extLst>
          </p:cNvPr>
          <p:cNvSpPr/>
          <p:nvPr/>
        </p:nvSpPr>
        <p:spPr>
          <a:xfrm>
            <a:off x="789878" y="1792353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11F92956-3A68-31ED-8E3D-D54FBA96E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76" y="1828800"/>
            <a:ext cx="5954231" cy="3476782"/>
          </a:xfrm>
          <a:prstGeom prst="rect">
            <a:avLst/>
          </a:prstGeom>
        </p:spPr>
      </p:pic>
      <p:sp>
        <p:nvSpPr>
          <p:cNvPr id="23" name="Shape 10">
            <a:extLst>
              <a:ext uri="{FF2B5EF4-FFF2-40B4-BE49-F238E27FC236}">
                <a16:creationId xmlns:a16="http://schemas.microsoft.com/office/drawing/2014/main" id="{02FC5E57-75ED-1C1D-ED75-AE29639D1AE8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1BE4A80-9223-9E91-B7A8-A0F51B264854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6E21F49-343C-735F-B5DF-F293669CD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407" y="1828799"/>
            <a:ext cx="5299666" cy="347678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5900174-6A15-658E-D0F7-82D21D4BC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717" y="2122150"/>
            <a:ext cx="1370284" cy="10962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35" name="Shape 7">
            <a:extLst>
              <a:ext uri="{FF2B5EF4-FFF2-40B4-BE49-F238E27FC236}">
                <a16:creationId xmlns:a16="http://schemas.microsoft.com/office/drawing/2014/main" id="{903ABD00-C734-9543-E96F-D280A9BAFA83}"/>
              </a:ext>
            </a:extLst>
          </p:cNvPr>
          <p:cNvSpPr/>
          <p:nvPr/>
        </p:nvSpPr>
        <p:spPr>
          <a:xfrm>
            <a:off x="11533656" y="1853876"/>
            <a:ext cx="175018" cy="192638"/>
          </a:xfrm>
          <a:prstGeom prst="rect">
            <a:avLst/>
          </a:prstGeom>
          <a:ln w="317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0FAF7FB-9560-DF16-76D4-608CDE83D3CF}"/>
              </a:ext>
            </a:extLst>
          </p:cNvPr>
          <p:cNvCxnSpPr>
            <a:stCxn id="35" idx="0"/>
          </p:cNvCxnSpPr>
          <p:nvPr/>
        </p:nvCxnSpPr>
        <p:spPr>
          <a:xfrm flipH="1">
            <a:off x="9904717" y="1853876"/>
            <a:ext cx="1716448" cy="2682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E47F0CA-C386-2D8E-27E0-91506D6A557D}"/>
              </a:ext>
            </a:extLst>
          </p:cNvPr>
          <p:cNvCxnSpPr/>
          <p:nvPr/>
        </p:nvCxnSpPr>
        <p:spPr>
          <a:xfrm flipH="1">
            <a:off x="11275001" y="2046514"/>
            <a:ext cx="433673" cy="11718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A4C8-AB12-4DA7-3B7A-3A76F0BC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B2E72B-E2BC-43D6-9107-CC4BFE711E57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5191D-ABEE-C593-1E1B-99A2E2226AAA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FDBC13-8FF1-8651-67AE-464F0E3F365C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8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996024-8B04-0D42-DB55-05261E19A89E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D6C85B-98F3-C9B4-99B3-51DE4D23B4F8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F12112-58C0-64E6-4937-4F6842BEA2BA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LED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가리기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정리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897D456-965C-CAAE-98EF-4A1CA0B125C4}"/>
              </a:ext>
            </a:extLst>
          </p:cNvPr>
          <p:cNvSpPr/>
          <p:nvPr/>
        </p:nvSpPr>
        <p:spPr>
          <a:xfrm>
            <a:off x="1392301" y="1783080"/>
            <a:ext cx="64211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6.jpg">
            <a:extLst>
              <a:ext uri="{FF2B5EF4-FFF2-40B4-BE49-F238E27FC236}">
                <a16:creationId xmlns:a16="http://schemas.microsoft.com/office/drawing/2014/main" id="{24D2E33A-3275-FDD0-0409-C1902E36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01" y="1783080"/>
            <a:ext cx="6421120" cy="3611880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809D4357-D11A-31BB-15B0-635EC9D30EB2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EE9832-4A0B-3DF6-2262-18506A0B0A9A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위치 확인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33ED17-C29F-1A94-7A36-81DCDDAAA70E}"/>
              </a:ext>
            </a:extLst>
          </p:cNvPr>
          <p:cNvSpPr/>
          <p:nvPr/>
        </p:nvSpPr>
        <p:spPr>
          <a:xfrm>
            <a:off x="8087741" y="1783080"/>
            <a:ext cx="270891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c1.jpg">
            <a:extLst>
              <a:ext uri="{FF2B5EF4-FFF2-40B4-BE49-F238E27FC236}">
                <a16:creationId xmlns:a16="http://schemas.microsoft.com/office/drawing/2014/main" id="{AABC37CF-3E73-D7B9-4EF7-D9E882AF4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741" y="1783080"/>
            <a:ext cx="2708910" cy="361188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14D451E2-89A6-2DDE-B6AC-245B3542C303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1D660ED-00F7-F751-A845-C4BE7CC82EBC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마커로 칠하기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7852EB5-E676-C76A-595E-67E384BD8F2F}"/>
              </a:ext>
            </a:extLst>
          </p:cNvPr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작동 시 흰 불(LED)이 들어오는 부분을 전달받은 페인트 마커로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칠합니다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7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7F5887D-B9E5-F983-06C8-F1FD28358FAF}"/>
              </a:ext>
            </a:extLst>
          </p:cNvPr>
          <p:cNvSpPr/>
          <p:nvPr/>
        </p:nvSpPr>
        <p:spPr>
          <a:xfrm>
            <a:off x="640080" y="61036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칠하기 전 보호 필름 제거 필수  ·  일반 매직(유성펜)은 지워지므로 반드시 페인트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</a:t>
            </a: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en-US" altLang="ko-KR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</a:t>
            </a:r>
            <a:r>
              <a:rPr lang="ko-KR" alt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케이블이 노출되지 않도록 케이블 타이로 정리 필수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8198D8B-A688-E3C9-8F13-B8949430F304}"/>
              </a:ext>
            </a:extLst>
          </p:cNvPr>
          <p:cNvSpPr/>
          <p:nvPr/>
        </p:nvSpPr>
        <p:spPr>
          <a:xfrm>
            <a:off x="660781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7502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554480"/>
            <a:ext cx="3291840" cy="3291840"/>
          </a:xfrm>
          <a:prstGeom prst="ellipse">
            <a:avLst/>
          </a:prstGeom>
          <a:ln w="3175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521440" y="6035040"/>
            <a:ext cx="1463040" cy="14630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</a:t>
            </a:r>
            <a:r>
              <a:rPr lang="en-US" sz="3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50392" y="1719072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분배기 전원부가 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어댑터를 통해 콘센트에 연결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되어 있는가?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0392" y="2322576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17320" y="2231136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카메라의 USB 단자가 셋톱박스에 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정상적으로 연결되어 있는가?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0392" y="2926080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17320" y="283464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7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모드가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 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1700" b="1" dirty="0" err="1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통행량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성별/</a:t>
            </a:r>
            <a:r>
              <a:rPr lang="en-US" sz="1700" b="1" dirty="0" err="1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b="1" dirty="0" err="1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, [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 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성별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분석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</a:t>
            </a:r>
            <a:r>
              <a:rPr lang="en-US" sz="17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sz="17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되어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있는가?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0392" y="3529584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17320" y="3438144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도면에 표시된 방향</a:t>
            </a: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카메라가 설치 되었는가</a:t>
            </a:r>
            <a:r>
              <a:rPr lang="en-US" altLang="ko-KR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50392" y="4133088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17320" y="404164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 필름 제거 후 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LED 부분을 페인트 마커로 칠했는가?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50392" y="4736592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17320" y="4645152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케이블이 외부에 노출되지 않도록 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정리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되어 있는가?</a:t>
            </a:r>
            <a:endParaRPr lang="en-US" sz="17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5A16DF4-90E3-2E0E-48D9-C69AD1D9684F}"/>
              </a:ext>
            </a:extLst>
          </p:cNvPr>
          <p:cNvSpPr/>
          <p:nvPr/>
        </p:nvSpPr>
        <p:spPr>
          <a:xfrm>
            <a:off x="1417320" y="5248656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사진(카메라 + 카메라가 바라보는 화면)을 찍었는가?</a:t>
            </a:r>
            <a:endParaRPr lang="en-US" sz="17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B41BD97-4D6E-018C-0882-838650D8A6BA}"/>
              </a:ext>
            </a:extLst>
          </p:cNvPr>
          <p:cNvSpPr/>
          <p:nvPr/>
        </p:nvSpPr>
        <p:spPr>
          <a:xfrm>
            <a:off x="850392" y="5340096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5" name="contact"/>
          <p:cNvSpPr/>
          <p:nvPr/>
        </p:nvSpPr>
        <p:spPr>
          <a:xfrm>
            <a:off x="850392" y="5989320"/>
            <a:ext cx="10515600" cy="685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300" dirty="0">
                <a:solidFill>
                  <a:srgbClr val="BBBBBB"/>
                </a:solidFill>
                <a:latin typeface="Pretendard"/>
                <a:ea typeface="Pretendard"/>
              </a:rPr>
              <a:t>※ 설치 시 문의사항은 아래로 연락 부탁드립니다.</a:t>
            </a:r>
          </a:p>
          <a:p>
            <a:r>
              <a:rPr lang="ko-KR" sz="1500" b="1" dirty="0">
                <a:solidFill>
                  <a:srgbClr val="FFD400"/>
                </a:solidFill>
                <a:latin typeface="Pretendard"/>
                <a:ea typeface="Pretendard"/>
              </a:rPr>
              <a:t>강남Biz전문센터</a:t>
            </a:r>
            <a:r>
              <a:rPr lang="ko-KR" sz="1500" b="1" dirty="0">
                <a:solidFill>
                  <a:srgbClr val="FFFFFF"/>
                </a:solidFill>
                <a:latin typeface="Pretendard"/>
                <a:ea typeface="Pretendard"/>
              </a:rPr>
              <a:t>  김민우 010-6241-7307  ·  허재용 010-5015-4647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1494</Words>
  <Application>Microsoft Office PowerPoint</Application>
  <PresentationFormat>와이드스크린</PresentationFormat>
  <Paragraphs>259</Paragraphs>
  <Slides>32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민우 김</cp:lastModifiedBy>
  <cp:revision>21</cp:revision>
  <dcterms:created xsi:type="dcterms:W3CDTF">2026-08-13T00:07:24Z</dcterms:created>
  <dcterms:modified xsi:type="dcterms:W3CDTF">2026-08-14T06:12:21Z</dcterms:modified>
</cp:coreProperties>
</file>